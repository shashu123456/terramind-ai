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7223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72231"/>
                </a:solidFill>
                <a:latin typeface="Arial"/>
              </a:rPr>
              <a:t>Objective weights by mode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carbon weighting %</c:v>
                </c:pt>
              </c:strCache>
            </c:strRef>
          </c:tx>
          <c:spPr>
            <a:solidFill>
              <a:srgbClr val="0F62F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Balanced</c:v>
                  </c:pt>
                  <c:pt idx="1">
                    <c:v>Carbon-first</c:v>
                  </c:pt>
                  <c:pt idx="2">
                    <c:v>Cost-first</c:v>
                  </c:pt>
                  <c:pt idx="3">
                    <c:v>Payback-first</c:v>
                  </c:pt>
                  <c:pt idx="4">
                    <c:v>Resilience-first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100</c:v>
                </c:pt>
                <c:pt idx="2">
                  <c:v>20</c:v>
                </c:pt>
                <c:pt idx="3">
                  <c:v>20</c:v>
                </c:pt>
                <c:pt idx="4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cost weighting %</c:v>
                </c:pt>
              </c:strCache>
            </c:strRef>
          </c:tx>
          <c:spPr>
            <a:solidFill>
              <a:srgbClr val="8FB6D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25</c:v>
                </c:pt>
                <c:pt idx="1">
                  <c:v>0</c:v>
                </c:pt>
                <c:pt idx="2">
                  <c:v>70</c:v>
                </c:pt>
                <c:pt idx="3">
                  <c:v>60</c:v>
                </c:pt>
                <c:pt idx="4">
                  <c:v>20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resilience weighting %</c:v>
                </c:pt>
              </c:strCache>
            </c:strRef>
          </c:tx>
          <c:spPr>
            <a:solidFill>
              <a:srgbClr val="172B3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/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25</c:v>
                </c:pt>
                <c:pt idx="1">
                  <c:v>0</c:v>
                </c:pt>
                <c:pt idx="2">
                  <c:v>10</c:v>
                </c:pt>
                <c:pt idx="3">
                  <c:v>20</c:v>
                </c:pt>
                <c:pt idx="4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7223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4ECF1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A6B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A6B7A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080000">
            <a:off x="-1097280" y="-1280160"/>
            <a:ext cx="4937760" cy="4937760"/>
          </a:xfrm>
          <a:prstGeom prst="roundRect">
            <a:avLst>
              <a:gd name="adj" fmla="val 18519"/>
            </a:avLst>
          </a:prstGeom>
          <a:solidFill>
            <a:srgbClr val="0E1C26"/>
          </a:solidFill>
          <a:ln/>
        </p:spPr>
      </p:sp>
      <p:sp>
        <p:nvSpPr>
          <p:cNvPr id="3" name="Shape 1"/>
          <p:cNvSpPr/>
          <p:nvPr/>
        </p:nvSpPr>
        <p:spPr>
          <a:xfrm rot="-840000">
            <a:off x="10058400" y="4480560"/>
            <a:ext cx="4023360" cy="4023360"/>
          </a:xfrm>
          <a:prstGeom prst="roundRect">
            <a:avLst>
              <a:gd name="adj" fmla="val 22727"/>
            </a:avLst>
          </a:prstGeom>
          <a:solidFill>
            <a:srgbClr val="0E1C26"/>
          </a:solidFill>
          <a:ln/>
        </p:spPr>
      </p:sp>
      <p:sp>
        <p:nvSpPr>
          <p:cNvPr id="4" name="Shape 2"/>
          <p:cNvSpPr/>
          <p:nvPr/>
        </p:nvSpPr>
        <p:spPr>
          <a:xfrm>
            <a:off x="502920" y="457200"/>
            <a:ext cx="841248" cy="841248"/>
          </a:xfrm>
          <a:prstGeom prst="roundRect">
            <a:avLst>
              <a:gd name="adj" fmla="val 17391"/>
            </a:avLst>
          </a:prstGeom>
          <a:solidFill>
            <a:srgbClr val="0F62FE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457200"/>
            <a:ext cx="8412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508760" y="457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TerraMind AI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27048" y="886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B9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SUSTAINABILITY INTELLIGENCE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02920" y="1874520"/>
            <a:ext cx="10332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intervention-planning</a:t>
            </a:r>
            <a:endParaRPr lang="en-US" sz="36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for campuses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521208" y="34290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9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estimates you can defend · decision traces you can audit · fully offline, no API keys.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4572000"/>
            <a:ext cx="1700784" cy="402336"/>
          </a:xfrm>
          <a:prstGeom prst="roundRect">
            <a:avLst>
              <a:gd name="adj" fmla="val 36364"/>
            </a:avLst>
          </a:prstGeom>
          <a:solidFill>
            <a:srgbClr val="2A4450"/>
          </a:solidFill>
          <a:ln w="12700">
            <a:solidFill>
              <a:srgbClr val="4C6B7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interventions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404872" y="4572000"/>
            <a:ext cx="1623060" cy="402336"/>
          </a:xfrm>
          <a:prstGeom prst="roundRect">
            <a:avLst>
              <a:gd name="adj" fmla="val 36364"/>
            </a:avLst>
          </a:prstGeom>
          <a:solidFill>
            <a:srgbClr val="2A4450"/>
          </a:solidFill>
          <a:ln w="12700">
            <a:solidFill>
              <a:srgbClr val="4C6B7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ranking modes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29100" y="4572000"/>
            <a:ext cx="1933956" cy="402336"/>
          </a:xfrm>
          <a:prstGeom prst="roundRect">
            <a:avLst>
              <a:gd name="adj" fmla="val 36364"/>
            </a:avLst>
          </a:prstGeom>
          <a:solidFill>
            <a:srgbClr val="2A4450"/>
          </a:solidFill>
          <a:ln w="12700">
            <a:solidFill>
              <a:srgbClr val="4C6B7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evidence 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364224" y="4572000"/>
            <a:ext cx="2011680" cy="402336"/>
          </a:xfrm>
          <a:prstGeom prst="roundRect">
            <a:avLst>
              <a:gd name="adj" fmla="val 36364"/>
            </a:avLst>
          </a:prstGeom>
          <a:solidFill>
            <a:srgbClr val="2A4450"/>
          </a:solidFill>
          <a:ln w="12700">
            <a:solidFill>
              <a:srgbClr val="4C6B7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API keys required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21208" y="6309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FA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licensed · v1.0.0 ·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campus sustainability plans stall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5559552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755648"/>
            <a:ext cx="512064" cy="512064"/>
          </a:xfrm>
          <a:prstGeom prst="OVAL">
            <a:avLst/>
          </a:prstGeom>
          <a:solidFill>
            <a:srgbClr val="0F62FE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24231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Black-box models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95528" y="283464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Reviewers cannot interrogate the assumptions a number is built on — so they cannot approve it.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126480" y="1463040"/>
            <a:ext cx="5559552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19088" y="1755648"/>
            <a:ext cx="512064" cy="512064"/>
          </a:xfrm>
          <a:prstGeom prst="OVAL">
            <a:avLst/>
          </a:prstGeom>
          <a:solidFill>
            <a:srgbClr val="0F62FE"/>
          </a:solidFill>
          <a:ln/>
        </p:spPr>
      </p:sp>
      <p:sp>
        <p:nvSpPr>
          <p:cNvPr id="11" name="Text 9"/>
          <p:cNvSpPr/>
          <p:nvPr/>
        </p:nvSpPr>
        <p:spPr>
          <a:xfrm>
            <a:off x="6419088" y="1755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19088" y="24231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“Forecasts” oversell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6419088" y="283464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“Predicted savings” reads like a promise. When reality diverges, the whole plan loses credibility.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749040"/>
            <a:ext cx="5559552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5528" y="4041648"/>
            <a:ext cx="512064" cy="512064"/>
          </a:xfrm>
          <a:prstGeom prst="OVAL">
            <a:avLst/>
          </a:prstGeom>
          <a:solidFill>
            <a:srgbClr val="1E8E6E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" y="4041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5528" y="47091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claims overstate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95528" y="512064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Tags turn into measurements. A campus gets credit as if it already did the work.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3749040"/>
            <a:ext cx="5559552" cy="210312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19088" y="4041648"/>
            <a:ext cx="512064" cy="512064"/>
          </a:xfrm>
          <a:prstGeom prst="OVAL">
            <a:avLst/>
          </a:prstGeom>
          <a:solidFill>
            <a:srgbClr val="B07D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19088" y="404164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19088" y="470916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over every year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6419088" y="512064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spreadsheet, new analyst, same opaque result. Nothing accumulates — no learning curve.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TerraMind AI · v1.0.0 · 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PRINCIPLE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AI explains. The engine calculates. The trace is accountable.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81328"/>
            <a:ext cx="11183112" cy="822960"/>
          </a:xfrm>
          <a:prstGeom prst="roundRect">
            <a:avLst>
              <a:gd name="adj" fmla="val 5556"/>
            </a:avLst>
          </a:prstGeom>
          <a:solidFill>
            <a:srgbClr val="E9F1F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481328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number in TerraMind AI is produced by registered, deterministic calculators with versioned factors — never by the language model.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542032"/>
            <a:ext cx="3557016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816352"/>
            <a:ext cx="300837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engine: a factor registry, a 12-action catalog, energy/water/waste/carbon calculators and a portfolio optimizer.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95528" y="2834640"/>
            <a:ext cx="512064" cy="512064"/>
          </a:xfrm>
          <a:prstGeom prst="OVAL">
            <a:avLst/>
          </a:prstGeom>
          <a:solidFill>
            <a:srgbClr val="0F62FE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2834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35608" y="28986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95528" y="51389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4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result carries formula · unit · factor version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15968" y="2542032"/>
            <a:ext cx="3557016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590288" y="2816352"/>
            <a:ext cx="300837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copilot retrieves evidence, explains reasoning and drafts prose. It never computes a number on its own.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608576" y="2834640"/>
            <a:ext cx="512064" cy="512064"/>
          </a:xfrm>
          <a:prstGeom prst="OVAL">
            <a:avLst/>
          </a:prstGeom>
          <a:solidFill>
            <a:srgbClr val="0F62FE"/>
          </a:solidFill>
          <a:ln/>
        </p:spPr>
      </p:sp>
      <p:sp>
        <p:nvSpPr>
          <p:cNvPr id="15" name="Text 13"/>
          <p:cNvSpPr/>
          <p:nvPr/>
        </p:nvSpPr>
        <p:spPr>
          <a:xfrm>
            <a:off x="4608576" y="2834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48656" y="28986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08576" y="51389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4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over 16 evidence sources · citations on every claim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29016" y="2542032"/>
            <a:ext cx="3557016" cy="3429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03336" y="2816352"/>
            <a:ext cx="3008376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decision trace records inputs, versions, weights, citations and approvals — a handover packet humans can sign.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421624" y="2834640"/>
            <a:ext cx="512064" cy="512064"/>
          </a:xfrm>
          <a:prstGeom prst="OVAL">
            <a:avLst/>
          </a:prstGeom>
          <a:solidFill>
            <a:srgbClr val="0F62FE"/>
          </a:solidFill>
          <a:ln/>
        </p:spPr>
      </p:sp>
      <p:sp>
        <p:nvSpPr>
          <p:cNvPr id="21" name="Text 19"/>
          <p:cNvSpPr/>
          <p:nvPr/>
        </p:nvSpPr>
        <p:spPr>
          <a:xfrm>
            <a:off x="8421624" y="28346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28986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21624" y="5138928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4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gate before adoption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TerraMind AI · v1.0.0 · 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decision layer, not the dashboard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4068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144768" y="1417320"/>
            <a:ext cx="5541264" cy="1143000"/>
          </a:xfrm>
          <a:prstGeom prst="roundRect">
            <a:avLst>
              <a:gd name="adj" fmla="val 4000"/>
            </a:avLst>
          </a:prstGeom>
          <a:solidFill>
            <a:srgbClr val="E9F1FF"/>
          </a:solidFill>
          <a:ln w="15875">
            <a:solidFill>
              <a:srgbClr val="0F6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459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ESG dashboards &amp; reporting platforms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19088" y="164592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4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TerraMind AI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743200"/>
          <a:ext cx="11183112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480560"/>
                <a:gridCol w="4416552"/>
              </a:tblGrid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C6B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question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How are we trending?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should we do next?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3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C6B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posture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2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Warehouses the data you already have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2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Local baseline + explicit, versioned assumptions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C6B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output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2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Reports and scorecards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2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rank-ordered, costed action bundle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C6B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AI’s role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2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Generates charts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2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Explains and reasons from the engine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4C6B7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you walk away with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2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score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1722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decision packet you can approve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TerraMind AI · v1.0.0 · 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ENGINE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Numbers with provenance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560320" cy="2834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India factors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475488" cy="475488"/>
          </a:xfrm>
          <a:prstGeom prst="OVAL">
            <a:avLst/>
          </a:prstGeom>
          <a:solidFill>
            <a:srgbClr val="0F62F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450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 registry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7724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i="1" dirty="0">
                <a:solidFill>
                  <a:srgbClr val="4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 0.7 kgCO₂e/kWh · tariff ₹7.5/kWh · factor v1</a:t>
            </a:r>
            <a:endParaRPr lang="en-US" sz="980" dirty="0"/>
          </a:p>
        </p:txBody>
      </p:sp>
      <p:sp>
        <p:nvSpPr>
          <p:cNvPr id="10" name="Text 8"/>
          <p:cNvSpPr/>
          <p:nvPr/>
        </p:nvSpPr>
        <p:spPr>
          <a:xfrm>
            <a:off x="3076956" y="274320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64408" y="1554480"/>
            <a:ext cx="2560320" cy="2834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38728" y="182880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actions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538728" y="1828800"/>
            <a:ext cx="475488" cy="475488"/>
          </a:xfrm>
          <a:prstGeom prst="OVAL">
            <a:avLst/>
          </a:prstGeom>
          <a:solidFill>
            <a:srgbClr val="0F62FE"/>
          </a:solidFill>
          <a:ln/>
        </p:spPr>
      </p:sp>
      <p:sp>
        <p:nvSpPr>
          <p:cNvPr id="14" name="Text 12"/>
          <p:cNvSpPr/>
          <p:nvPr/>
        </p:nvSpPr>
        <p:spPr>
          <a:xfrm>
            <a:off x="3538728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538728" y="2450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Intervention catalog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538728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i="1" dirty="0">
                <a:solidFill>
                  <a:srgbClr val="4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 · capex · confidence · prerequisites · SDG tags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5838444" y="274320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025896" y="1554480"/>
            <a:ext cx="2560320" cy="2834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300216" y="182880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· water · waste · carbon · payback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300216" y="1828800"/>
            <a:ext cx="475488" cy="475488"/>
          </a:xfrm>
          <a:prstGeom prst="OVAL">
            <a:avLst/>
          </a:prstGeom>
          <a:solidFill>
            <a:srgbClr val="0F62FE"/>
          </a:solidFill>
          <a:ln/>
        </p:spPr>
      </p:sp>
      <p:sp>
        <p:nvSpPr>
          <p:cNvPr id="21" name="Text 19"/>
          <p:cNvSpPr/>
          <p:nvPr/>
        </p:nvSpPr>
        <p:spPr>
          <a:xfrm>
            <a:off x="6300216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00216" y="2450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Calculators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300216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i="1" dirty="0">
                <a:solidFill>
                  <a:srgbClr val="4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ranges, never point guesses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8599932" y="2743200"/>
            <a:ext cx="173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8787384" y="1554480"/>
            <a:ext cx="2560320" cy="2834640"/>
          </a:xfrm>
          <a:prstGeom prst="roundRect">
            <a:avLst>
              <a:gd name="adj" fmla="val 2143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061704" y="1828800"/>
            <a:ext cx="20116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modes + Pareto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9061704" y="1828800"/>
            <a:ext cx="475488" cy="475488"/>
          </a:xfrm>
          <a:prstGeom prst="OVAL">
            <a:avLst/>
          </a:prstGeom>
          <a:solidFill>
            <a:srgbClr val="0F62FE"/>
          </a:solidFill>
          <a:ln/>
        </p:spPr>
      </p:sp>
      <p:sp>
        <p:nvSpPr>
          <p:cNvPr id="28" name="Text 26"/>
          <p:cNvSpPr/>
          <p:nvPr/>
        </p:nvSpPr>
        <p:spPr>
          <a:xfrm>
            <a:off x="9061704" y="18288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061704" y="245059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optimizer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9061704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980" i="1" dirty="0">
                <a:solidFill>
                  <a:srgbClr val="4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exhaustive ≤ 2,048 bundles · top 8 + non-dominated front</a:t>
            </a:r>
            <a:endParaRPr lang="en-US" sz="980" dirty="0"/>
          </a:p>
        </p:txBody>
      </p:sp>
      <p:sp>
        <p:nvSpPr>
          <p:cNvPr id="31" name="Shape 29"/>
          <p:cNvSpPr/>
          <p:nvPr/>
        </p:nvSpPr>
        <p:spPr>
          <a:xfrm>
            <a:off x="502920" y="4709160"/>
            <a:ext cx="11183112" cy="777240"/>
          </a:xfrm>
          <a:prstGeom prst="roundRect">
            <a:avLst>
              <a:gd name="adj" fmla="val 5882"/>
            </a:avLst>
          </a:prstGeom>
          <a:solidFill>
            <a:srgbClr val="E3F4EE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47091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8E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Uncertainty is carried, not hidden: every estimate is a low–high range whose width reflects data completeness, and the whole pipeline is reproducible from the recorded inputs.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TerraMind AI · v1.0.0 · 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MULTI-OBJECTIVE RANKING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modes, visible weights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08760"/>
            <a:ext cx="5486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ranking is a weighted sum of named objectives — and the weights are printed in the result.</a:t>
            </a:r>
            <a:endParaRPr lang="en-US" sz="1250" dirty="0"/>
          </a:p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hidden 'recommended bundle': up to eight bundles are ranked on a transparent score, and the Pareto front shows alternatives a committee might prefer even when they are not top of the list.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02920" y="361188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4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4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carbon-first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4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cost-first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4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payback-first</a:t>
            </a:r>
            <a:endParaRPr lang="en-US" sz="11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50" b="1" dirty="0">
                <a:solidFill>
                  <a:srgbClr val="4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resilience-first</a:t>
            </a:r>
            <a:endParaRPr lang="en-US" sz="11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309360" y="1463040"/>
          <a:ext cx="54864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TerraMind AI · v1.0.0 · 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COPILOT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Explains. Never invents.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60604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828800"/>
            <a:ext cx="457200" cy="457200"/>
          </a:xfrm>
          <a:prstGeom prst="OVAL">
            <a:avLst/>
          </a:prstGeom>
          <a:solidFill>
            <a:srgbClr val="0F62FE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" y="2432304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Guardrails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" y="2816352"/>
            <a:ext cx="2093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Rejects forecasts, guarantees and 'certified savings' phrasing.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118104" y="237744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255264" y="1600200"/>
            <a:ext cx="260604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11296" y="1828800"/>
            <a:ext cx="457200" cy="457200"/>
          </a:xfrm>
          <a:prstGeom prst="OVAL">
            <a:avLst/>
          </a:prstGeom>
          <a:solidFill>
            <a:srgbClr val="0F62FE"/>
          </a:solidFill>
          <a:ln/>
        </p:spPr>
      </p:sp>
      <p:sp>
        <p:nvSpPr>
          <p:cNvPr id="12" name="Text 10"/>
          <p:cNvSpPr/>
          <p:nvPr/>
        </p:nvSpPr>
        <p:spPr>
          <a:xfrm>
            <a:off x="3511296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11296" y="2432304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511296" y="2816352"/>
            <a:ext cx="2093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Retrieves and cites evidence filtered by intervention and geography.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870448" y="237744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007608" y="1600200"/>
            <a:ext cx="260604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828800"/>
            <a:ext cx="457200" cy="457200"/>
          </a:xfrm>
          <a:prstGeom prst="OVAL">
            <a:avLst/>
          </a:prstGeom>
          <a:solidFill>
            <a:srgbClr val="0F62FE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263640" y="2432304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2816352"/>
            <a:ext cx="2093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the deterministic engine for every figure it shows.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622792" y="2377440"/>
            <a:ext cx="1280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8759952" y="1600200"/>
            <a:ext cx="2606040" cy="205740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15984" y="1828800"/>
            <a:ext cx="457200" cy="457200"/>
          </a:xfrm>
          <a:prstGeom prst="OVAL">
            <a:avLst/>
          </a:prstGeom>
          <a:solidFill>
            <a:srgbClr val="0F62FE"/>
          </a:solidFill>
          <a:ln/>
        </p:spPr>
      </p:sp>
      <p:sp>
        <p:nvSpPr>
          <p:cNvPr id="24" name="Text 22"/>
          <p:cNvSpPr/>
          <p:nvPr/>
        </p:nvSpPr>
        <p:spPr>
          <a:xfrm>
            <a:off x="9015984" y="1828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15984" y="2432304"/>
            <a:ext cx="2093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Labelling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015984" y="2816352"/>
            <a:ext cx="20939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Labels every answer a 'scenario estimate' with its range.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02920" y="3977640"/>
            <a:ext cx="11183112" cy="141732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777240" y="4206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Retrieved evidence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77240" y="46177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“LED Lighting Fact Sheet” · US Department of Energy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77240" y="487375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“Lighting Retrofit Best Practices” · BEE India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77240" y="512978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“ISO 50001 Energy Management” · ISO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77240" y="5870448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A4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Citations are verifiable URLs — an AI can point to its sources, an engine never has to.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TerraMind AI · v1.0.0 · 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RECOMMENDATIONS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decision, one auditable trace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60350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scenario run and every copilot answer writes a DecisionTrace.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records the input hash (SHA-256), model and factor versions, weights, citations and a full snapshot.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 and rejections are appended as their own trace events.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a reviewer sees is unverifiable — reproduce the run, get the same numbers.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903720" y="1463040"/>
            <a:ext cx="4754880" cy="4114800"/>
          </a:xfrm>
          <a:prstGeom prst="roundRect">
            <a:avLst>
              <a:gd name="adj" fmla="val 1333"/>
            </a:avLst>
          </a:prstGeom>
          <a:solidFill>
            <a:srgbClr val="172B3A"/>
          </a:solidFill>
          <a:ln/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78040" y="16916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9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TRACE · #49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178040" y="20848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41080" y="208483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scenario run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178040" y="246888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hash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41080" y="24688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7f3a…c9b2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178040" y="285292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41080" y="285292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campus-interventions-v1.0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178040" y="32369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41080" y="323697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india-demo-factors-v1.0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178040" y="3621024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641080" y="362102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.50 · cost .25 · res .25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178040" y="400507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641080" y="40050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evidence sources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178040" y="438912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FA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641080" y="43891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approval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178040" y="4864608"/>
            <a:ext cx="1463040" cy="384048"/>
          </a:xfrm>
          <a:prstGeom prst="roundRect">
            <a:avLst>
              <a:gd name="adj" fmla="val 38095"/>
            </a:avLst>
          </a:prstGeom>
          <a:solidFill>
            <a:srgbClr val="1E8E6E"/>
          </a:solidFill>
          <a:ln w="12700">
            <a:solidFill>
              <a:srgbClr val="1E8E6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823960" y="4864608"/>
            <a:ext cx="1463040" cy="384048"/>
          </a:xfrm>
          <a:prstGeom prst="roundRect">
            <a:avLst>
              <a:gd name="adj" fmla="val 38095"/>
            </a:avLst>
          </a:prstGeom>
          <a:solidFill>
            <a:srgbClr val="B42318"/>
          </a:solidFill>
          <a:ln w="12700">
            <a:solidFill>
              <a:srgbClr val="B4231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411480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4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Inputs, versions and outcomes stay linked forever — your audit trail for the next committee.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TerraMind AI · v1.0.0 · 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HANDOVER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decision packet, not a dashboard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5943600" cy="411480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73736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 Decision packet · Campus LED + Solar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5394960" cy="457200"/>
          </a:xfrm>
          <a:prstGeom prst="roundRect">
            <a:avLst>
              <a:gd name="adj" fmla="val 8000"/>
            </a:avLst>
          </a:prstGeom>
          <a:solidFill>
            <a:srgbClr val="FBF3E3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4028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B07D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 scenario estimate — not a forecast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77240" y="288036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Executive summary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3282696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Baseline &amp; data quality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685032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Ranking &amp; trade-offs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087368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Assumptions &amp; factors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448970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SDG touchpoints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" y="4892040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C6B7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Limitations &amp; responsible-AI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12280" y="182880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2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markdown document a committee can read in ten minutes — and approve in one.</a:t>
            </a:r>
            <a:endParaRPr lang="en-US" sz="1300" dirty="0"/>
          </a:p>
          <a:p>
            <a:pPr marL="342900" indent="-342900">
              <a:lnSpc>
                <a:spcPct val="122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Contains only structured values produced by the engine — the AI writes prose, never numbers.</a:t>
            </a:r>
            <a:endParaRPr lang="en-US" sz="1300" dirty="0"/>
          </a:p>
          <a:p>
            <a:pPr marL="342900" indent="-342900">
              <a:lnSpc>
                <a:spcPct val="122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Bundles the sequenced action plan, the ranges and the responsible-AI notes.</a:t>
            </a:r>
            <a:endParaRPr lang="en-US" sz="1300" dirty="0"/>
          </a:p>
          <a:p>
            <a:pPr marL="342900" indent="-342900">
              <a:lnSpc>
                <a:spcPct val="1220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PDF-ready today; the template is versioned for changes you can inspect.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12280" y="4663440"/>
            <a:ext cx="4892040" cy="960120"/>
          </a:xfrm>
          <a:prstGeom prst="roundRect">
            <a:avLst>
              <a:gd name="adj" fmla="val 4762"/>
            </a:avLst>
          </a:prstGeom>
          <a:solidFill>
            <a:srgbClr val="E9F1FF"/>
          </a:solidFill>
          <a:ln/>
        </p:spPr>
      </p:sp>
      <p:sp>
        <p:nvSpPr>
          <p:cNvPr id="16" name="Text 14"/>
          <p:cNvSpPr/>
          <p:nvPr/>
        </p:nvSpPr>
        <p:spPr>
          <a:xfrm>
            <a:off x="7086600" y="4663440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i="1" dirty="0">
                <a:solidFill>
                  <a:srgbClr val="0A4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 → approval → adoption: the packet is the handover record, and it is traceable to every input.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TerraMind AI · v1.0.0 · 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labels, honest ranges</a:t>
            </a:r>
            <a:endParaRPr lang="en-US" sz="2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08760"/>
          <a:ext cx="111831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377440"/>
                <a:gridCol w="2011680"/>
                <a:gridCol w="475488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value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Label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Source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B3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2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Electricity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2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100,000 kWh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2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2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annual bill, FY 2025–26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2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Water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2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10,000 kL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2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2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utility statement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2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Waste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2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20,000 kg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2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2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waste audit estimate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2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Carbon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722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≈70 t CO₂e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A42C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derived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7223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grid factor 0.7 kgCO₂e/kWh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73152" marB="73152" anchor="ctr">
                    <a:lnL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C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023360"/>
            <a:ext cx="111556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labels: measured · entered · derived · modeled · not-available.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data widens the range — it is never silently imputed.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and modeled values are never conflated.</a:t>
            </a:r>
            <a:endParaRPr lang="en-US" sz="1350" dirty="0"/>
          </a:p>
          <a:p>
            <a:pPr marL="342900" indent="-342900">
              <a:lnSpc>
                <a:spcPct val="1200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SDG tags are described as mappings, not measurements of impact.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TerraMind AI · v1.0.0 ·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to run where you run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269748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828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pnpm monorepo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560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workspace packages · one-way deps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64992" y="1554480"/>
            <a:ext cx="269748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93592" y="1828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5.9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593592" y="2560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strict · ESM · zero implicit any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27064" y="1554480"/>
            <a:ext cx="269748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55664" y="1828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tRPC v11 + superjson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455664" y="2560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typed end-to-end API · one endpoint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089136" y="1554480"/>
            <a:ext cx="269748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17736" y="18288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· Vite 7 · Tailwind 4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317736" y="25603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Carbon-inspired UI · light + dark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383280"/>
            <a:ext cx="269748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31520" y="3657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Drizzle ORM + MySQL 8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31520" y="4389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tables · JSON demo store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64992" y="3383280"/>
            <a:ext cx="269748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93592" y="3657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Deterministic core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593592" y="4389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ES2022 · pure functions · zod v4 inputs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227064" y="3383280"/>
            <a:ext cx="269748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455664" y="3657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sessions (jose)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55664" y="4389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HttpOnly cookie · SameSite=Lax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9089136" y="3383280"/>
            <a:ext cx="2697480" cy="16002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9317736" y="3657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Vitest · esbuild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317736" y="43891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tests · 66 KB API bundle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02920" y="5138928"/>
            <a:ext cx="7406640" cy="457200"/>
          </a:xfrm>
          <a:prstGeom prst="roundRect">
            <a:avLst>
              <a:gd name="adj" fmla="val 32000"/>
            </a:avLst>
          </a:prstGeom>
          <a:solidFill>
            <a:srgbClr val="E9F1FF"/>
          </a:solidFill>
          <a:ln w="12700">
            <a:solidFill>
              <a:srgbClr val="E9F1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4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fully offline · no API keys · demo store → production MySQL in one switch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TerraMind AI · v1.0.0 ·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 from demo to production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2044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2880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demo server with a zero-setup JSON store — instant onboarding.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777240" y="1828800"/>
            <a:ext cx="512064" cy="512064"/>
          </a:xfrm>
          <a:prstGeom prst="OVAL">
            <a:avLst/>
          </a:prstGeom>
          <a:solidFill>
            <a:srgbClr val="0F62FE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874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pnpm dev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77240" y="3703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A4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seconds to first run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87952" y="1554480"/>
            <a:ext cx="352044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62272" y="182880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Node process: SPA + typed API from one port, ready for a VM.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462272" y="1828800"/>
            <a:ext cx="512064" cy="512064"/>
          </a:xfrm>
          <a:prstGeom prst="OVAL">
            <a:avLst/>
          </a:prstGeom>
          <a:solidFill>
            <a:srgbClr val="0F62FE"/>
          </a:solidFill>
          <a:ln/>
        </p:spPr>
      </p:sp>
      <p:sp>
        <p:nvSpPr>
          <p:cNvPr id="13" name="Text 11"/>
          <p:cNvSpPr/>
          <p:nvPr/>
        </p:nvSpPr>
        <p:spPr>
          <a:xfrm>
            <a:off x="4462272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02352" y="1874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pnpm build &amp;&amp; start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4462272" y="3703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A4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binary, 66 KB engine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72984" y="1554480"/>
            <a:ext cx="352044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47304" y="1828800"/>
            <a:ext cx="2971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+ MySQL 8 with healthchecks — the same code, containerised.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47304" y="1828800"/>
            <a:ext cx="512064" cy="512064"/>
          </a:xfrm>
          <a:prstGeom prst="OVAL">
            <a:avLst/>
          </a:prstGeom>
          <a:solidFill>
            <a:srgbClr val="0F62FE"/>
          </a:solidFill>
          <a:ln/>
        </p:spPr>
      </p:sp>
      <p:sp>
        <p:nvSpPr>
          <p:cNvPr id="19" name="Text 17"/>
          <p:cNvSpPr/>
          <p:nvPr/>
        </p:nvSpPr>
        <p:spPr>
          <a:xfrm>
            <a:off x="8147304" y="182880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787384" y="18745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 up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8147304" y="370332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A4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drop-in for institutional IT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4709160"/>
            <a:ext cx="11183112" cy="777240"/>
          </a:xfrm>
          <a:prstGeom prst="roundRect">
            <a:avLst>
              <a:gd name="adj" fmla="val 5882"/>
            </a:avLst>
          </a:prstGeom>
          <a:solidFill>
            <a:srgbClr val="E9F1F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70916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42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external LLM, no cloud account, no data export — the demo is the product, just without the credentials.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TerraMind AI · v1.0.0 ·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0F6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55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single campus to an institutional portfolio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554480"/>
            <a:ext cx="3557016" cy="4023360"/>
          </a:xfrm>
          <a:prstGeom prst="roundRect">
            <a:avLst>
              <a:gd name="adj" fmla="val 1285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95528" y="1828800"/>
            <a:ext cx="457200" cy="457200"/>
          </a:xfrm>
          <a:prstGeom prst="OVAL">
            <a:avLst/>
          </a:prstGeom>
          <a:solidFill>
            <a:srgbClr val="0F62FE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8836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 term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5528" y="2606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Production auth provider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95528" y="331927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Remote LLM toggle (Granite / OpenAI / Ollama)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95528" y="403250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PDF decision packets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95528" y="474573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Multi-site portfolio views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15968" y="1554480"/>
            <a:ext cx="3557016" cy="4023360"/>
          </a:xfrm>
          <a:prstGeom prst="roundRect">
            <a:avLst>
              <a:gd name="adj" fmla="val 1285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08576" y="1828800"/>
            <a:ext cx="457200" cy="457200"/>
          </a:xfrm>
          <a:prstGeom prst="OVAL">
            <a:avLst/>
          </a:prstGeom>
          <a:solidFill>
            <a:srgbClr val="1E8E6E"/>
          </a:solidFill>
          <a:ln/>
        </p:spPr>
      </p:sp>
      <p:sp>
        <p:nvSpPr>
          <p:cNvPr id="13" name="Text 11"/>
          <p:cNvSpPr/>
          <p:nvPr/>
        </p:nvSpPr>
        <p:spPr>
          <a:xfrm>
            <a:off x="5184648" y="18836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 term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608576" y="2606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Postgres store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608576" y="331927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Time-series baselines &amp; seasonality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608576" y="403250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Structured scenario diffing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608576" y="4745736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Shared-factor governance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29016" y="1554480"/>
            <a:ext cx="3557016" cy="4023360"/>
          </a:xfrm>
          <a:prstGeom prst="roundRect">
            <a:avLst>
              <a:gd name="adj" fmla="val 1285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sx="100000" sy="100000" kx="0" ky="0" algn="bl" rotWithShape="0" blurRad="88900" dist="25400" dir="5400000">
              <a:srgbClr val="172B3A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21624" y="1828800"/>
            <a:ext cx="457200" cy="457200"/>
          </a:xfrm>
          <a:prstGeom prst="OVAL">
            <a:avLst/>
          </a:prstGeom>
          <a:solidFill>
            <a:srgbClr val="B07D2B"/>
          </a:solidFill>
          <a:ln/>
        </p:spPr>
      </p:sp>
      <p:sp>
        <p:nvSpPr>
          <p:cNvPr id="20" name="Text 18"/>
          <p:cNvSpPr/>
          <p:nvPr/>
        </p:nvSpPr>
        <p:spPr>
          <a:xfrm>
            <a:off x="8997696" y="1883664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7223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term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421624" y="2606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On-field verification loop feeding the factor registry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21624" y="3319272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Community factor packs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421624" y="403250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 i18n on the evidence base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0292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A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TerraMind AI · v1.0.0 ·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72B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60000">
            <a:off x="9692640" y="-1097280"/>
            <a:ext cx="4206240" cy="4206240"/>
          </a:xfrm>
          <a:prstGeom prst="roundRect">
            <a:avLst>
              <a:gd name="adj" fmla="val 21739"/>
            </a:avLst>
          </a:prstGeom>
          <a:solidFill>
            <a:srgbClr val="0E1C26"/>
          </a:solidFill>
          <a:ln/>
        </p:spPr>
      </p:sp>
      <p:sp>
        <p:nvSpPr>
          <p:cNvPr id="3" name="Shape 1"/>
          <p:cNvSpPr/>
          <p:nvPr/>
        </p:nvSpPr>
        <p:spPr>
          <a:xfrm rot="-720000">
            <a:off x="-914400" y="4754880"/>
            <a:ext cx="4023360" cy="4023360"/>
          </a:xfrm>
          <a:prstGeom prst="roundRect">
            <a:avLst>
              <a:gd name="adj" fmla="val 22727"/>
            </a:avLst>
          </a:prstGeom>
          <a:solidFill>
            <a:srgbClr val="2A445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874520"/>
            <a:ext cx="10515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numbers into decisions</a:t>
            </a:r>
            <a:endParaRPr lang="en-US" sz="34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committee can sign.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41248" y="35661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B9CC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TerraMind AI — explainable intervention-planning copilot for campuses and institutional sites. Runs locally today; scales to institutional portfolios tomorrow.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4892040"/>
            <a:ext cx="2194560" cy="438912"/>
          </a:xfrm>
          <a:prstGeom prst="roundRect">
            <a:avLst>
              <a:gd name="adj" fmla="val 33333"/>
            </a:avLst>
          </a:prstGeom>
          <a:solidFill>
            <a:srgbClr val="2A4450"/>
          </a:solidFill>
          <a:ln w="12700">
            <a:solidFill>
              <a:srgbClr val="4C6B7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licensed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54680" y="4892040"/>
            <a:ext cx="2194560" cy="438912"/>
          </a:xfrm>
          <a:prstGeom prst="roundRect">
            <a:avLst>
              <a:gd name="adj" fmla="val 33333"/>
            </a:avLst>
          </a:prstGeom>
          <a:solidFill>
            <a:srgbClr val="2A4450"/>
          </a:solidFill>
          <a:ln w="12700">
            <a:solidFill>
              <a:srgbClr val="4C6B7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demo included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0" y="4892040"/>
            <a:ext cx="2194560" cy="438912"/>
          </a:xfrm>
          <a:prstGeom prst="roundRect">
            <a:avLst>
              <a:gd name="adj" fmla="val 33333"/>
            </a:avLst>
          </a:prstGeom>
          <a:solidFill>
            <a:srgbClr val="2A4450"/>
          </a:solidFill>
          <a:ln w="12700">
            <a:solidFill>
              <a:srgbClr val="4C6B7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traces, first-class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41248" y="6263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8FA9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TerraMind AI · v1.0.0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TerraMind AI — Explainable intervention-planning copilot</dc:title>
  <dc:subject>PptxGenJS Presentation</dc:subject>
  <dc:creator>TerraMind AI</dc:creator>
  <cp:lastModifiedBy>TerraMind AI</cp:lastModifiedBy>
  <cp:revision>1</cp:revision>
  <dcterms:created xsi:type="dcterms:W3CDTF">2026-09-20T14:20:43Z</dcterms:created>
  <dcterms:modified xsi:type="dcterms:W3CDTF">2026-09-20T14:20:43Z</dcterms:modified>
</cp:coreProperties>
</file>